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cffb3b1-d0c0-3322-2475-a3da94fa8073}">
          <p14:sldIdLst>
            <p14:sldId id="256"/>
            <p14:sldId id="257"/>
            <p14:sldId id="258"/>
            <p14:sldId id="259"/>
          </p14:sldIdLst>
        </p14:section>
        <p14:section name="Dashboards" id="{8de478d7-0bc1-dfda-1fa5-d39e02adc06c}">
          <p14:sldIdLst>
            <p14:sldId id="260"/>
            <p14:sldId id="261"/>
            <p14:sldId id="262"/>
            <p14:sldId id="263"/>
          </p14:sldIdLst>
        </p14:section>
        <p14:section name="Insights" id="{0ebf0296-ce6a-2f84-af44-dad9270578f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5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1314</c:v>
                </c:pt>
                <c:pt idx="1">
                  <c:v>1305</c:v>
                </c:pt>
                <c:pt idx="2">
                  <c:v>1260</c:v>
                </c:pt>
                <c:pt idx="3">
                  <c:v>1332</c:v>
                </c:pt>
                <c:pt idx="4">
                  <c:v>1310</c:v>
                </c:pt>
                <c:pt idx="5">
                  <c:v>1377</c:v>
                </c:pt>
                <c:pt idx="6">
                  <c:v>1318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5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F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8E5"/>
              </a:solidFill>
              <a:effectLst/>
            </c:spPr>
          </c:dPt>
          <c:dPt>
            <c:idx val="1"/>
            <c:bubble3D val="0"/>
            <c:spPr>
              <a:solidFill>
                <a:srgbClr val="8DA9C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Within target</c:v>
                </c:pt>
                <c:pt idx="1">
                  <c:v>Target missed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40.68</c:v>
                </c:pt>
                <c:pt idx="1">
                  <c:v>59.32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5F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74980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DA9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Hospital Emergency Room Dashboard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Power BI analysis of ER patient flow, wait times and satisfaction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April 2023 – October 2024</a:t>
            </a:r>
            <a:endParaRPr lang="en-US" sz="2000" dirty="0"/>
          </a:p>
        </p:txBody>
      </p:sp>
      <p:sp>
        <p:nvSpPr>
          <p:cNvPr id="4" name="Cross circle"/>
          <p:cNvSpPr/>
          <p:nvPr/>
        </p:nvSpPr>
        <p:spPr>
          <a:xfrm>
            <a:off x="8778240" y="1737360"/>
            <a:ext cx="2926080" cy="2926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ross vertical"/>
          <p:cNvSpPr/>
          <p:nvPr/>
        </p:nvSpPr>
        <p:spPr>
          <a:xfrm>
            <a:off x="9921240" y="2377440"/>
            <a:ext cx="640080" cy="16459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Cross horizontal"/>
          <p:cNvSpPr/>
          <p:nvPr/>
        </p:nvSpPr>
        <p:spPr>
          <a:xfrm>
            <a:off x="9418320" y="2880360"/>
            <a:ext cx="1645920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ER performance at a glance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325880"/>
            <a:ext cx="263347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value 1"/>
          <p:cNvSpPr txBox="1"/>
          <p:nvPr/>
        </p:nvSpPr>
        <p:spPr>
          <a:xfrm>
            <a:off x="73152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9,216</a:t>
            </a:r>
            <a:endParaRPr lang="en-US" sz="3800" dirty="0"/>
          </a:p>
        </p:txBody>
      </p:sp>
      <p:sp>
        <p:nvSpPr>
          <p:cNvPr id="5" name="Stat label 1"/>
          <p:cNvSpPr txBox="1"/>
          <p:nvPr/>
        </p:nvSpPr>
        <p:spPr>
          <a:xfrm>
            <a:off x="73152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unique patients over 19 months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364992" y="1325880"/>
            <a:ext cx="263347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value 2"/>
          <p:cNvSpPr txBox="1"/>
          <p:nvPr/>
        </p:nvSpPr>
        <p:spPr>
          <a:xfrm>
            <a:off x="3547872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35.3 min</a:t>
            </a:r>
            <a:endParaRPr lang="en-US" sz="3800" dirty="0"/>
          </a:p>
        </p:txBody>
      </p:sp>
      <p:sp>
        <p:nvSpPr>
          <p:cNvPr id="8" name="Stat label 2"/>
          <p:cNvSpPr txBox="1"/>
          <p:nvPr/>
        </p:nvSpPr>
        <p:spPr>
          <a:xfrm>
            <a:off x="3547872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wait before being seen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81344" y="1325880"/>
            <a:ext cx="263347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value 3"/>
          <p:cNvSpPr txBox="1"/>
          <p:nvPr/>
        </p:nvSpPr>
        <p:spPr>
          <a:xfrm>
            <a:off x="6364224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4.99 / 10</a:t>
            </a:r>
            <a:endParaRPr lang="en-US" sz="38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364224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patient satisfaction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8997696" y="1325880"/>
            <a:ext cx="263347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value 4"/>
          <p:cNvSpPr txBox="1"/>
          <p:nvPr/>
        </p:nvSpPr>
        <p:spPr>
          <a:xfrm>
            <a:off x="9180576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40.7%</a:t>
            </a:r>
            <a:endParaRPr lang="en-US" sz="3800" dirty="0"/>
          </a:p>
        </p:txBody>
      </p:sp>
      <p:sp>
        <p:nvSpPr>
          <p:cNvPr id="14" name="Stat label 4"/>
          <p:cNvSpPr txBox="1"/>
          <p:nvPr/>
        </p:nvSpPr>
        <p:spPr>
          <a:xfrm>
            <a:off x="9180576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patients seen within 30 minutes</a:t>
            </a:r>
            <a:endParaRPr lang="en-US" sz="1400" dirty="0"/>
          </a:p>
        </p:txBody>
      </p:sp>
      <p:sp>
        <p:nvSpPr>
          <p:cNvPr id="15" name="Day chart heading"/>
          <p:cNvSpPr txBox="1"/>
          <p:nvPr/>
        </p:nvSpPr>
        <p:spPr>
          <a:xfrm>
            <a:off x="548640" y="32004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by day of week</a:t>
            </a:r>
            <a:endParaRPr lang="en-US" sz="18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3566160"/>
          <a:ext cx="67665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Donut heading"/>
          <p:cNvSpPr txBox="1"/>
          <p:nvPr/>
        </p:nvSpPr>
        <p:spPr>
          <a:xfrm>
            <a:off x="777240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Seen within 30 minutes</a:t>
            </a:r>
            <a:endParaRPr lang="en-US" sz="1800" dirty="0"/>
          </a:p>
        </p:txBody>
      </p:sp>
      <p:graphicFrame>
        <p:nvGraphicFramePr>
          <p:cNvPr id="18" name="Chart 1" descr=""/>
          <p:cNvGraphicFramePr/>
          <p:nvPr/>
        </p:nvGraphicFramePr>
        <p:xfrm>
          <a:off x="7680960" y="356616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dashboard was built</a:t>
            </a:r>
            <a:endParaRPr lang="en-US" sz="3200" dirty="0"/>
          </a:p>
        </p:txBody>
      </p:sp>
      <p:sp>
        <p:nvSpPr>
          <p:cNvPr id="3" name="Phase card 1"/>
          <p:cNvSpPr/>
          <p:nvPr/>
        </p:nvSpPr>
        <p:spPr>
          <a:xfrm>
            <a:off x="548640" y="1325880"/>
            <a:ext cx="3566160" cy="4754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hase title 1"/>
          <p:cNvSpPr txBox="1"/>
          <p:nvPr/>
        </p:nvSpPr>
        <p:spPr>
          <a:xfrm>
            <a:off x="82296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200" dirty="0"/>
          </a:p>
        </p:txBody>
      </p:sp>
      <p:sp>
        <p:nvSpPr>
          <p:cNvPr id="5" name="Step 1 circle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tep text 1"/>
          <p:cNvSpPr txBox="1"/>
          <p:nvPr/>
        </p:nvSpPr>
        <p:spPr>
          <a:xfrm>
            <a:off x="1417320" y="21214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Requirement gathering / business requirements</a:t>
            </a:r>
            <a:endParaRPr lang="en-US" sz="1400" dirty="0"/>
          </a:p>
        </p:txBody>
      </p:sp>
      <p:sp>
        <p:nvSpPr>
          <p:cNvPr id="8" name="Step 2 circle"/>
          <p:cNvSpPr/>
          <p:nvPr/>
        </p:nvSpPr>
        <p:spPr>
          <a:xfrm>
            <a:off x="822960" y="294436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8229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tep text 2"/>
          <p:cNvSpPr txBox="1"/>
          <p:nvPr/>
        </p:nvSpPr>
        <p:spPr>
          <a:xfrm>
            <a:off x="1417320" y="287121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walkthrough</a:t>
            </a:r>
            <a:endParaRPr lang="en-US" sz="1400" dirty="0"/>
          </a:p>
        </p:txBody>
      </p:sp>
      <p:sp>
        <p:nvSpPr>
          <p:cNvPr id="11" name="Phase card 2"/>
          <p:cNvSpPr/>
          <p:nvPr/>
        </p:nvSpPr>
        <p:spPr>
          <a:xfrm>
            <a:off x="4297680" y="1325880"/>
            <a:ext cx="3566160" cy="4754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hase title 2"/>
          <p:cNvSpPr txBox="1"/>
          <p:nvPr/>
        </p:nvSpPr>
        <p:spPr>
          <a:xfrm>
            <a:off x="457200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2200" dirty="0"/>
          </a:p>
        </p:txBody>
      </p:sp>
      <p:sp>
        <p:nvSpPr>
          <p:cNvPr id="13" name="Step 3 circle"/>
          <p:cNvSpPr/>
          <p:nvPr/>
        </p:nvSpPr>
        <p:spPr>
          <a:xfrm>
            <a:off x="4572000" y="21945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45720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text 3"/>
          <p:cNvSpPr txBox="1"/>
          <p:nvPr/>
        </p:nvSpPr>
        <p:spPr>
          <a:xfrm>
            <a:off x="5166360" y="21214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connection</a:t>
            </a:r>
            <a:endParaRPr lang="en-US" sz="1400" dirty="0"/>
          </a:p>
        </p:txBody>
      </p:sp>
      <p:sp>
        <p:nvSpPr>
          <p:cNvPr id="16" name="Step 4 circle"/>
          <p:cNvSpPr/>
          <p:nvPr/>
        </p:nvSpPr>
        <p:spPr>
          <a:xfrm>
            <a:off x="4572000" y="294436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45720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text 4"/>
          <p:cNvSpPr txBox="1"/>
          <p:nvPr/>
        </p:nvSpPr>
        <p:spPr>
          <a:xfrm>
            <a:off x="5166360" y="287121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cleaning / quality check</a:t>
            </a:r>
            <a:endParaRPr lang="en-US" sz="1400" dirty="0"/>
          </a:p>
        </p:txBody>
      </p:sp>
      <p:sp>
        <p:nvSpPr>
          <p:cNvPr id="19" name="Step 5 circle"/>
          <p:cNvSpPr/>
          <p:nvPr/>
        </p:nvSpPr>
        <p:spPr>
          <a:xfrm>
            <a:off x="4572000" y="3694176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tep 5 number"/>
          <p:cNvSpPr txBox="1"/>
          <p:nvPr/>
        </p:nvSpPr>
        <p:spPr>
          <a:xfrm>
            <a:off x="457200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Step text 5"/>
          <p:cNvSpPr txBox="1"/>
          <p:nvPr/>
        </p:nvSpPr>
        <p:spPr>
          <a:xfrm>
            <a:off x="5166360" y="362102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modeling</a:t>
            </a:r>
            <a:endParaRPr lang="en-US" sz="1400" dirty="0"/>
          </a:p>
        </p:txBody>
      </p:sp>
      <p:sp>
        <p:nvSpPr>
          <p:cNvPr id="22" name="Step 6 circle"/>
          <p:cNvSpPr/>
          <p:nvPr/>
        </p:nvSpPr>
        <p:spPr>
          <a:xfrm>
            <a:off x="4572000" y="4443984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tep 6 number"/>
          <p:cNvSpPr txBox="1"/>
          <p:nvPr/>
        </p:nvSpPr>
        <p:spPr>
          <a:xfrm>
            <a:off x="457200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4" name="Step text 6"/>
          <p:cNvSpPr txBox="1"/>
          <p:nvPr/>
        </p:nvSpPr>
        <p:spPr>
          <a:xfrm>
            <a:off x="5166360" y="437083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processing</a:t>
            </a:r>
            <a:endParaRPr lang="en-US" sz="1400" dirty="0"/>
          </a:p>
        </p:txBody>
      </p:sp>
      <p:sp>
        <p:nvSpPr>
          <p:cNvPr id="25" name="Step 7 circle"/>
          <p:cNvSpPr/>
          <p:nvPr/>
        </p:nvSpPr>
        <p:spPr>
          <a:xfrm>
            <a:off x="4572000" y="519379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Step 7 number"/>
          <p:cNvSpPr txBox="1"/>
          <p:nvPr/>
        </p:nvSpPr>
        <p:spPr>
          <a:xfrm>
            <a:off x="457200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7" name="Step text 7"/>
          <p:cNvSpPr txBox="1"/>
          <p:nvPr/>
        </p:nvSpPr>
        <p:spPr>
          <a:xfrm>
            <a:off x="5166360" y="5120640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DAX calculations</a:t>
            </a:r>
            <a:endParaRPr lang="en-US" sz="1400" dirty="0"/>
          </a:p>
        </p:txBody>
      </p:sp>
      <p:sp>
        <p:nvSpPr>
          <p:cNvPr id="28" name="Phase card 3"/>
          <p:cNvSpPr/>
          <p:nvPr/>
        </p:nvSpPr>
        <p:spPr>
          <a:xfrm>
            <a:off x="8046720" y="1325880"/>
            <a:ext cx="3566160" cy="4754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hase title 3"/>
          <p:cNvSpPr txBox="1"/>
          <p:nvPr/>
        </p:nvSpPr>
        <p:spPr>
          <a:xfrm>
            <a:off x="832104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explain</a:t>
            </a:r>
            <a:endParaRPr lang="en-US" sz="2200" dirty="0"/>
          </a:p>
        </p:txBody>
      </p:sp>
      <p:sp>
        <p:nvSpPr>
          <p:cNvPr id="30" name="Step 8 circle"/>
          <p:cNvSpPr/>
          <p:nvPr/>
        </p:nvSpPr>
        <p:spPr>
          <a:xfrm>
            <a:off x="8321040" y="21945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Step 8 number"/>
          <p:cNvSpPr txBox="1"/>
          <p:nvPr/>
        </p:nvSpPr>
        <p:spPr>
          <a:xfrm>
            <a:off x="83210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2" name="Step text 8"/>
          <p:cNvSpPr txBox="1"/>
          <p:nvPr/>
        </p:nvSpPr>
        <p:spPr>
          <a:xfrm>
            <a:off x="8915400" y="21214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 layouting</a:t>
            </a:r>
            <a:endParaRPr lang="en-US" sz="1400" dirty="0"/>
          </a:p>
        </p:txBody>
      </p:sp>
      <p:sp>
        <p:nvSpPr>
          <p:cNvPr id="33" name="Step 9 circle"/>
          <p:cNvSpPr/>
          <p:nvPr/>
        </p:nvSpPr>
        <p:spPr>
          <a:xfrm>
            <a:off x="8321040" y="29443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Step 9 number"/>
          <p:cNvSpPr txBox="1"/>
          <p:nvPr/>
        </p:nvSpPr>
        <p:spPr>
          <a:xfrm>
            <a:off x="83210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35" name="Step text 9"/>
          <p:cNvSpPr txBox="1"/>
          <p:nvPr/>
        </p:nvSpPr>
        <p:spPr>
          <a:xfrm>
            <a:off x="8915400" y="2871216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Charts development and formatting</a:t>
            </a:r>
            <a:endParaRPr lang="en-US" sz="1400" dirty="0"/>
          </a:p>
        </p:txBody>
      </p:sp>
      <p:sp>
        <p:nvSpPr>
          <p:cNvPr id="36" name="Step 10 circle"/>
          <p:cNvSpPr/>
          <p:nvPr/>
        </p:nvSpPr>
        <p:spPr>
          <a:xfrm>
            <a:off x="8321040" y="3694176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Step 10 number"/>
          <p:cNvSpPr txBox="1"/>
          <p:nvPr/>
        </p:nvSpPr>
        <p:spPr>
          <a:xfrm>
            <a:off x="83210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38" name="Step text 10"/>
          <p:cNvSpPr txBox="1"/>
          <p:nvPr/>
        </p:nvSpPr>
        <p:spPr>
          <a:xfrm>
            <a:off x="8915400" y="362102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 / report development</a:t>
            </a:r>
            <a:endParaRPr lang="en-US" sz="1400" dirty="0"/>
          </a:p>
        </p:txBody>
      </p:sp>
      <p:sp>
        <p:nvSpPr>
          <p:cNvPr id="39" name="Step 11 circle"/>
          <p:cNvSpPr/>
          <p:nvPr/>
        </p:nvSpPr>
        <p:spPr>
          <a:xfrm>
            <a:off x="8321040" y="444398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Step 11 number"/>
          <p:cNvSpPr txBox="1"/>
          <p:nvPr/>
        </p:nvSpPr>
        <p:spPr>
          <a:xfrm>
            <a:off x="832104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11</a:t>
            </a:r>
            <a:endParaRPr lang="en-US" sz="1500" dirty="0"/>
          </a:p>
        </p:txBody>
      </p:sp>
      <p:sp>
        <p:nvSpPr>
          <p:cNvPr id="41" name="Step text 11"/>
          <p:cNvSpPr txBox="1"/>
          <p:nvPr/>
        </p:nvSpPr>
        <p:spPr>
          <a:xfrm>
            <a:off x="8915400" y="437083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Insights generation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KPIs, each tracked daily with a sparkline</a:t>
            </a:r>
            <a:endParaRPr lang="en-US" sz="3200" dirty="0"/>
          </a:p>
        </p:txBody>
      </p:sp>
      <p:sp>
        <p:nvSpPr>
          <p:cNvPr id="3" name="KPI card 1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PI 1 circle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KPI 1 number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KPI title 1"/>
          <p:cNvSpPr txBox="1"/>
          <p:nvPr/>
        </p:nvSpPr>
        <p:spPr>
          <a:xfrm>
            <a:off x="150876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patients</a:t>
            </a:r>
            <a:endParaRPr lang="en-US" sz="2000" dirty="0"/>
          </a:p>
        </p:txBody>
      </p:sp>
      <p:sp>
        <p:nvSpPr>
          <p:cNvPr id="7" name="KPI text 1"/>
          <p:cNvSpPr txBox="1"/>
          <p:nvPr/>
        </p:nvSpPr>
        <p:spPr>
          <a:xfrm>
            <a:off x="822960" y="2240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Total patients visiting the ER each day. The area sparkline shows peak days and seasonal patterns.</a:t>
            </a:r>
            <a:endParaRPr lang="en-US" sz="1500" dirty="0"/>
          </a:p>
        </p:txBody>
      </p:sp>
      <p:sp>
        <p:nvSpPr>
          <p:cNvPr id="8" name="KPI card 2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PI 2 circle"/>
          <p:cNvSpPr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KPI 2 number"/>
          <p:cNvSpPr txBox="1"/>
          <p:nvPr/>
        </p:nvSpPr>
        <p:spPr>
          <a:xfrm>
            <a:off x="6446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KPI title 2"/>
          <p:cNvSpPr txBox="1"/>
          <p:nvPr/>
        </p:nvSpPr>
        <p:spPr>
          <a:xfrm>
            <a:off x="713232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wait time</a:t>
            </a:r>
            <a:endParaRPr lang="en-US" sz="2000" dirty="0"/>
          </a:p>
        </p:txBody>
      </p:sp>
      <p:sp>
        <p:nvSpPr>
          <p:cNvPr id="12" name="KPI text 2"/>
          <p:cNvSpPr txBox="1"/>
          <p:nvPr/>
        </p:nvSpPr>
        <p:spPr>
          <a:xfrm>
            <a:off x="6446520" y="22402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Average time before a medical professional sees the patient. The sparkline flags days with long waits that need operational changes.</a:t>
            </a:r>
            <a:endParaRPr lang="en-US" sz="1500" dirty="0"/>
          </a:p>
        </p:txBody>
      </p:sp>
      <p:sp>
        <p:nvSpPr>
          <p:cNvPr id="13" name="KPI card 3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KPI 3 circle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KPI 3 number"/>
          <p:cNvSpPr txBox="1"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KPI title 3"/>
          <p:cNvSpPr txBox="1"/>
          <p:nvPr/>
        </p:nvSpPr>
        <p:spPr>
          <a:xfrm>
            <a:off x="150876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satisfaction score</a:t>
            </a:r>
            <a:endParaRPr lang="en-US" sz="2000" dirty="0"/>
          </a:p>
        </p:txBody>
      </p:sp>
      <p:sp>
        <p:nvSpPr>
          <p:cNvPr id="17" name="KPI text 3"/>
          <p:cNvSpPr txBox="1"/>
          <p:nvPr/>
        </p:nvSpPr>
        <p:spPr>
          <a:xfrm>
            <a:off x="822960" y="47091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Daily average satisfaction to judge service quality. The sparkline shows dips that can be matched to busy periods.</a:t>
            </a:r>
            <a:endParaRPr lang="en-US" sz="1500" dirty="0"/>
          </a:p>
        </p:txBody>
      </p:sp>
      <p:sp>
        <p:nvSpPr>
          <p:cNvPr id="18" name="KPI card 4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KPI 4 circle"/>
          <p:cNvSpPr/>
          <p:nvPr/>
        </p:nvSpPr>
        <p:spPr>
          <a:xfrm>
            <a:off x="6446520" y="406908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KPI 4 number"/>
          <p:cNvSpPr txBox="1"/>
          <p:nvPr/>
        </p:nvSpPr>
        <p:spPr>
          <a:xfrm>
            <a:off x="6446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KPI title 4"/>
          <p:cNvSpPr txBox="1"/>
          <p:nvPr/>
        </p:nvSpPr>
        <p:spPr>
          <a:xfrm>
            <a:off x="713232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referred</a:t>
            </a:r>
            <a:endParaRPr lang="en-US" sz="2000" dirty="0"/>
          </a:p>
        </p:txBody>
      </p:sp>
      <p:sp>
        <p:nvSpPr>
          <p:cNvPr id="22" name="KPI text 4"/>
          <p:cNvSpPr txBox="1"/>
          <p:nvPr/>
        </p:nvSpPr>
        <p:spPr>
          <a:xfrm>
            <a:off x="6446520" y="47091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Patients referred from the ER to specific departments each day. The sparkline points to departments needing extra resources.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dashboard pages, from summary to detail</a:t>
            </a:r>
            <a:endParaRPr lang="en-US" sz="3200" dirty="0"/>
          </a:p>
        </p:txBody>
      </p:sp>
      <p:sp>
        <p:nvSpPr>
          <p:cNvPr id="3" name="Dashboard card 1"/>
          <p:cNvSpPr/>
          <p:nvPr/>
        </p:nvSpPr>
        <p:spPr>
          <a:xfrm>
            <a:off x="548640" y="1325880"/>
            <a:ext cx="2633472" cy="47548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ashboard 1 circle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ashboard 1 number"/>
          <p:cNvSpPr txBox="1"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Dashboard name 1"/>
          <p:cNvSpPr txBox="1"/>
          <p:nvPr/>
        </p:nvSpPr>
        <p:spPr>
          <a:xfrm>
            <a:off x="7772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View</a:t>
            </a:r>
            <a:endParaRPr lang="en-US" sz="2000" dirty="0"/>
          </a:p>
        </p:txBody>
      </p:sp>
      <p:sp>
        <p:nvSpPr>
          <p:cNvPr id="7" name="Dashboard objective 1"/>
          <p:cNvSpPr txBox="1"/>
          <p:nvPr/>
        </p:nvSpPr>
        <p:spPr>
          <a:xfrm>
            <a:off x="77724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Track KPIs and patterns month by month.</a:t>
            </a:r>
            <a:endParaRPr lang="en-US" sz="1500" dirty="0"/>
          </a:p>
        </p:txBody>
      </p:sp>
      <p:sp>
        <p:nvSpPr>
          <p:cNvPr id="8" name="Dashboard contents 1"/>
          <p:cNvSpPr txBox="1"/>
          <p:nvPr/>
        </p:nvSpPr>
        <p:spPr>
          <a:xfrm>
            <a:off x="777240" y="39319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</a:rPr>
              <a:t>Admission status, age groups, referrals, 30-minute timeliness, gender, race, day and hour</a:t>
            </a:r>
            <a:endParaRPr lang="en-US" sz="1400" dirty="0"/>
          </a:p>
        </p:txBody>
      </p:sp>
      <p:sp>
        <p:nvSpPr>
          <p:cNvPr id="9" name="Dashboard card 2"/>
          <p:cNvSpPr/>
          <p:nvPr/>
        </p:nvSpPr>
        <p:spPr>
          <a:xfrm>
            <a:off x="3364992" y="1325880"/>
            <a:ext cx="2633472" cy="47548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ashboard 2 circle"/>
          <p:cNvSpPr/>
          <p:nvPr/>
        </p:nvSpPr>
        <p:spPr>
          <a:xfrm>
            <a:off x="3593592" y="15544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Dashboard 2 number"/>
          <p:cNvSpPr txBox="1"/>
          <p:nvPr/>
        </p:nvSpPr>
        <p:spPr>
          <a:xfrm>
            <a:off x="359359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Dashboard name 2"/>
          <p:cNvSpPr txBox="1"/>
          <p:nvPr/>
        </p:nvSpPr>
        <p:spPr>
          <a:xfrm>
            <a:off x="3593592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View</a:t>
            </a:r>
            <a:endParaRPr lang="en-US" sz="2000" dirty="0"/>
          </a:p>
        </p:txBody>
      </p:sp>
      <p:sp>
        <p:nvSpPr>
          <p:cNvPr id="13" name="Dashboard objective 2"/>
          <p:cNvSpPr txBox="1"/>
          <p:nvPr/>
        </p:nvSpPr>
        <p:spPr>
          <a:xfrm>
            <a:off x="3593592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Summarize performance over any chosen date range.</a:t>
            </a:r>
            <a:endParaRPr lang="en-US" sz="1500" dirty="0"/>
          </a:p>
        </p:txBody>
      </p:sp>
      <p:sp>
        <p:nvSpPr>
          <p:cNvPr id="14" name="Dashboard contents 2"/>
          <p:cNvSpPr txBox="1"/>
          <p:nvPr/>
        </p:nvSpPr>
        <p:spPr>
          <a:xfrm>
            <a:off x="3593592" y="39319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</a:rPr>
              <a:t>The same metrics as the monthly view, aggregated across the range</a:t>
            </a:r>
            <a:endParaRPr lang="en-US" sz="1400" dirty="0"/>
          </a:p>
        </p:txBody>
      </p:sp>
      <p:sp>
        <p:nvSpPr>
          <p:cNvPr id="15" name="Dashboard card 3"/>
          <p:cNvSpPr/>
          <p:nvPr/>
        </p:nvSpPr>
        <p:spPr>
          <a:xfrm>
            <a:off x="6181344" y="1325880"/>
            <a:ext cx="2633472" cy="47548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ashboard 3 circle"/>
          <p:cNvSpPr/>
          <p:nvPr/>
        </p:nvSpPr>
        <p:spPr>
          <a:xfrm>
            <a:off x="6409944" y="155448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Dashboard 3 number"/>
          <p:cNvSpPr txBox="1"/>
          <p:nvPr/>
        </p:nvSpPr>
        <p:spPr>
          <a:xfrm>
            <a:off x="640994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Dashboard name 3"/>
          <p:cNvSpPr txBox="1"/>
          <p:nvPr/>
        </p:nvSpPr>
        <p:spPr>
          <a:xfrm>
            <a:off x="6409944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Details</a:t>
            </a:r>
            <a:endParaRPr lang="en-US" sz="2000" dirty="0"/>
          </a:p>
        </p:txBody>
      </p:sp>
      <p:sp>
        <p:nvSpPr>
          <p:cNvPr id="19" name="Dashboard objective 3"/>
          <p:cNvSpPr txBox="1"/>
          <p:nvPr/>
        </p:nvSpPr>
        <p:spPr>
          <a:xfrm>
            <a:off x="6409944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Patient-level data for detailed checks.</a:t>
            </a:r>
            <a:endParaRPr lang="en-US" sz="1500" dirty="0"/>
          </a:p>
        </p:txBody>
      </p:sp>
      <p:sp>
        <p:nvSpPr>
          <p:cNvPr id="20" name="Dashboard contents 3"/>
          <p:cNvSpPr txBox="1"/>
          <p:nvPr/>
        </p:nvSpPr>
        <p:spPr>
          <a:xfrm>
            <a:off x="6409944" y="39319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</a:rPr>
              <a:t>A grid of ID, name, gender, age, admission date, race, wait time, referral and status</a:t>
            </a:r>
            <a:endParaRPr lang="en-US" sz="1400" dirty="0"/>
          </a:p>
        </p:txBody>
      </p:sp>
      <p:sp>
        <p:nvSpPr>
          <p:cNvPr id="21" name="Dashboard card 4"/>
          <p:cNvSpPr/>
          <p:nvPr/>
        </p:nvSpPr>
        <p:spPr>
          <a:xfrm>
            <a:off x="8997696" y="1325880"/>
            <a:ext cx="2633472" cy="475488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Dashboard 4 circle"/>
          <p:cNvSpPr/>
          <p:nvPr/>
        </p:nvSpPr>
        <p:spPr>
          <a:xfrm>
            <a:off x="9226296" y="1554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Dashboard 4 number"/>
          <p:cNvSpPr txBox="1"/>
          <p:nvPr/>
        </p:nvSpPr>
        <p:spPr>
          <a:xfrm>
            <a:off x="922629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Dashboard name 4"/>
          <p:cNvSpPr txBox="1"/>
          <p:nvPr/>
        </p:nvSpPr>
        <p:spPr>
          <a:xfrm>
            <a:off x="9226296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25" name="Dashboard objective 4"/>
          <p:cNvSpPr txBox="1"/>
          <p:nvPr/>
        </p:nvSpPr>
        <p:spPr>
          <a:xfrm>
            <a:off x="9226296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Turn findings into actions for stakeholders.</a:t>
            </a:r>
            <a:endParaRPr lang="en-US" sz="1500" dirty="0"/>
          </a:p>
        </p:txBody>
      </p:sp>
      <p:sp>
        <p:nvSpPr>
          <p:cNvPr id="26" name="Dashboard contents 4"/>
          <p:cNvSpPr txBox="1"/>
          <p:nvPr/>
        </p:nvSpPr>
        <p:spPr>
          <a:xfrm>
            <a:off x="9226296" y="39319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F7A"/>
                </a:solidFill>
              </a:rPr>
              <a:t>Descriptive analysis of each metric: patterns, anomalies and recommendations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Monthly view: June 2023</a:t>
            </a:r>
            <a:endParaRPr lang="en-US" sz="3200" dirty="0"/>
          </a:p>
        </p:txBody>
      </p:sp>
      <p:pic>
        <p:nvPicPr>
          <p:cNvPr id="3" name="Dashboard screenshot" descr="Monthly view: June 2023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06640" cy="450176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B2545">
                <a:alpha val="14000"/>
              </a:srgbClr>
            </a:outerShdw>
          </a:effectLst>
        </p:spPr>
      </p:pic>
      <p:sp>
        <p:nvSpPr>
          <p:cNvPr id="4" name="Notes heading"/>
          <p:cNvSpPr txBox="1"/>
          <p:nvPr/>
        </p:nvSpPr>
        <p:spPr>
          <a:xfrm>
            <a:off x="8229600" y="137160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June 2023 shows</a:t>
            </a:r>
            <a:endParaRPr lang="en-US" sz="2000" dirty="0"/>
          </a:p>
        </p:txBody>
      </p:sp>
      <p:sp>
        <p:nvSpPr>
          <p:cNvPr id="5" name="Note card 1"/>
          <p:cNvSpPr/>
          <p:nvPr/>
        </p:nvSpPr>
        <p:spPr>
          <a:xfrm>
            <a:off x="8229600" y="1965960"/>
            <a:ext cx="3410712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ote text 1"/>
          <p:cNvSpPr txBox="1"/>
          <p:nvPr/>
        </p:nvSpPr>
        <p:spPr>
          <a:xfrm>
            <a:off x="8412480" y="203911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506 patients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wait 35.6 min, satisfaction 5.18, and 201 patients referred.</a:t>
            </a:r>
            <a:endParaRPr lang="en-US" sz="1800" dirty="0"/>
          </a:p>
        </p:txBody>
      </p:sp>
      <p:sp>
        <p:nvSpPr>
          <p:cNvPr id="7" name="Note card 2"/>
          <p:cNvSpPr/>
          <p:nvPr/>
        </p:nvSpPr>
        <p:spPr>
          <a:xfrm>
            <a:off x="8229600" y="3355848"/>
            <a:ext cx="3410712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ote text 2"/>
          <p:cNvSpPr txBox="1"/>
          <p:nvPr/>
        </p:nvSpPr>
        <p:spPr>
          <a:xfrm>
            <a:off x="8412480" y="3429000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38.5% seen in 30 min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195 patients met the target; 311 (61.5%) missed it.</a:t>
            </a:r>
            <a:endParaRPr lang="en-US" sz="1800" dirty="0"/>
          </a:p>
        </p:txBody>
      </p:sp>
      <p:sp>
        <p:nvSpPr>
          <p:cNvPr id="9" name="Note card 3"/>
          <p:cNvSpPr/>
          <p:nvPr/>
        </p:nvSpPr>
        <p:spPr>
          <a:xfrm>
            <a:off x="8229600" y="4745736"/>
            <a:ext cx="3410712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ote text 3"/>
          <p:cNvSpPr txBox="1"/>
          <p:nvPr/>
        </p:nvSpPr>
        <p:spPr>
          <a:xfrm>
            <a:off x="8412480" y="4818888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Thursday peak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102 patients, the highest of any weekday that month.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Consolidated view: Apr 2023 – Oct 2024</a:t>
            </a:r>
            <a:endParaRPr lang="en-US" sz="3200" dirty="0"/>
          </a:p>
        </p:txBody>
      </p:sp>
      <p:pic>
        <p:nvPicPr>
          <p:cNvPr id="3" name="Dashboard screenshot" descr="Consolidated view: Apr 2023 – Oct 2024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06640" cy="4467081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B2545">
                <a:alpha val="14000"/>
              </a:srgbClr>
            </a:outerShdw>
          </a:effectLst>
        </p:spPr>
      </p:pic>
      <p:sp>
        <p:nvSpPr>
          <p:cNvPr id="4" name="Notes heading"/>
          <p:cNvSpPr txBox="1"/>
          <p:nvPr/>
        </p:nvSpPr>
        <p:spPr>
          <a:xfrm>
            <a:off x="8229600" y="137160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19 months</a:t>
            </a:r>
            <a:endParaRPr lang="en-US" sz="2000" dirty="0"/>
          </a:p>
        </p:txBody>
      </p:sp>
      <p:sp>
        <p:nvSpPr>
          <p:cNvPr id="5" name="Note card 1"/>
          <p:cNvSpPr/>
          <p:nvPr/>
        </p:nvSpPr>
        <p:spPr>
          <a:xfrm>
            <a:off x="8229600" y="1965960"/>
            <a:ext cx="3410712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ote text 1"/>
          <p:cNvSpPr txBox="1"/>
          <p:nvPr/>
        </p:nvSpPr>
        <p:spPr>
          <a:xfrm>
            <a:off x="8412480" y="203911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9,216 patients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wait 35.3 min and satisfaction 4.99.</a:t>
            </a:r>
            <a:endParaRPr lang="en-US" sz="1800" dirty="0"/>
          </a:p>
        </p:txBody>
      </p:sp>
      <p:sp>
        <p:nvSpPr>
          <p:cNvPr id="7" name="Note card 2"/>
          <p:cNvSpPr/>
          <p:nvPr/>
        </p:nvSpPr>
        <p:spPr>
          <a:xfrm>
            <a:off x="8229600" y="3355848"/>
            <a:ext cx="3410712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ote text 2"/>
          <p:cNvSpPr txBox="1"/>
          <p:nvPr/>
        </p:nvSpPr>
        <p:spPr>
          <a:xfrm>
            <a:off x="8412480" y="3429000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split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4,612 admitted (50.04%) and 4,604 not admitted (49.96%).</a:t>
            </a:r>
            <a:endParaRPr lang="en-US" sz="1800" dirty="0"/>
          </a:p>
        </p:txBody>
      </p:sp>
      <p:sp>
        <p:nvSpPr>
          <p:cNvPr id="9" name="Note card 3"/>
          <p:cNvSpPr/>
          <p:nvPr/>
        </p:nvSpPr>
        <p:spPr>
          <a:xfrm>
            <a:off x="8229600" y="4745736"/>
            <a:ext cx="3410712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ote text 3"/>
          <p:cNvSpPr txBox="1"/>
          <p:nvPr/>
        </p:nvSpPr>
        <p:spPr>
          <a:xfrm>
            <a:off x="8412480" y="4818888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Saturday busiest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1,377 patients; weekday volumes range 1,260 to 1,332.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Patient details</a:t>
            </a:r>
            <a:endParaRPr lang="en-US" sz="3200" dirty="0"/>
          </a:p>
        </p:txBody>
      </p:sp>
      <p:pic>
        <p:nvPicPr>
          <p:cNvPr id="3" name="Dashboard screenshot" descr="Patient detail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06640" cy="446398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B2545">
                <a:alpha val="14000"/>
              </a:srgbClr>
            </a:outerShdw>
          </a:effectLst>
        </p:spPr>
      </p:pic>
      <p:sp>
        <p:nvSpPr>
          <p:cNvPr id="4" name="Notes heading"/>
          <p:cNvSpPr txBox="1"/>
          <p:nvPr/>
        </p:nvSpPr>
        <p:spPr>
          <a:xfrm>
            <a:off x="8229600" y="137160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Patient-level grid</a:t>
            </a:r>
            <a:endParaRPr lang="en-US" sz="2000" dirty="0"/>
          </a:p>
        </p:txBody>
      </p:sp>
      <p:sp>
        <p:nvSpPr>
          <p:cNvPr id="5" name="Note card 1"/>
          <p:cNvSpPr/>
          <p:nvPr/>
        </p:nvSpPr>
        <p:spPr>
          <a:xfrm>
            <a:off x="8229600" y="1965960"/>
            <a:ext cx="3410712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ote text 1"/>
          <p:cNvSpPr txBox="1"/>
          <p:nvPr/>
        </p:nvSpPr>
        <p:spPr>
          <a:xfrm>
            <a:off x="8412480" y="2039112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fields per patient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ID, name, gender, age, admission date, race, wait time, referral, status.</a:t>
            </a:r>
            <a:endParaRPr lang="en-US" sz="1800" dirty="0"/>
          </a:p>
        </p:txBody>
      </p:sp>
      <p:sp>
        <p:nvSpPr>
          <p:cNvPr id="7" name="Note card 2"/>
          <p:cNvSpPr/>
          <p:nvPr/>
        </p:nvSpPr>
        <p:spPr>
          <a:xfrm>
            <a:off x="8229600" y="3355848"/>
            <a:ext cx="3410712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ote text 2"/>
          <p:cNvSpPr txBox="1"/>
          <p:nvPr/>
        </p:nvSpPr>
        <p:spPr>
          <a:xfrm>
            <a:off x="8412480" y="3429000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Date-range filter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same date slider as the consolidated view limits the rows shown.</a:t>
            </a:r>
            <a:endParaRPr lang="en-US" sz="1800" dirty="0"/>
          </a:p>
        </p:txBody>
      </p:sp>
      <p:sp>
        <p:nvSpPr>
          <p:cNvPr id="9" name="Note card 3"/>
          <p:cNvSpPr/>
          <p:nvPr/>
        </p:nvSpPr>
        <p:spPr>
          <a:xfrm>
            <a:off x="8229600" y="4745736"/>
            <a:ext cx="3410712" cy="1261872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ote text 3"/>
          <p:cNvSpPr txBox="1"/>
          <p:nvPr/>
        </p:nvSpPr>
        <p:spPr>
          <a:xfrm>
            <a:off x="8412480" y="4818888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Lets analysts trace any KPI back to the individual visits behind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Key insights, April 2023 – October 2024</a:t>
            </a:r>
            <a:endParaRPr lang="en-US" sz="3200" dirty="0"/>
          </a:p>
        </p:txBody>
      </p:sp>
      <p:sp>
        <p:nvSpPr>
          <p:cNvPr id="3" name="Insight card 1"/>
          <p:cNvSpPr/>
          <p:nvPr/>
        </p:nvSpPr>
        <p:spPr>
          <a:xfrm>
            <a:off x="548640" y="132588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sight title 1"/>
          <p:cNvSpPr txBox="1"/>
          <p:nvPr/>
        </p:nvSpPr>
        <p:spPr>
          <a:xfrm>
            <a:off x="77724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Waits and satisfaction</a:t>
            </a:r>
            <a:endParaRPr lang="en-US" sz="1900" dirty="0"/>
          </a:p>
        </p:txBody>
      </p:sp>
      <p:sp>
        <p:nvSpPr>
          <p:cNvPr id="5" name="Insight text 1"/>
          <p:cNvSpPr txBox="1"/>
          <p:nvPr/>
        </p:nvSpPr>
        <p:spPr>
          <a:xfrm>
            <a:off x="77724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wait is 35.3 min and satisfaction is 4.99 out of 10, so there is room to improve patient flow.</a:t>
            </a:r>
            <a:endParaRPr lang="en-US" sz="1400" dirty="0"/>
          </a:p>
        </p:txBody>
      </p:sp>
      <p:sp>
        <p:nvSpPr>
          <p:cNvPr id="6" name="Insight card 2"/>
          <p:cNvSpPr/>
          <p:nvPr/>
        </p:nvSpPr>
        <p:spPr>
          <a:xfrm>
            <a:off x="4297680" y="132588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nsight title 2"/>
          <p:cNvSpPr txBox="1"/>
          <p:nvPr/>
        </p:nvSpPr>
        <p:spPr>
          <a:xfrm>
            <a:off x="452628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Referrals</a:t>
            </a:r>
            <a:endParaRPr lang="en-US" sz="1900" dirty="0"/>
          </a:p>
        </p:txBody>
      </p:sp>
      <p:sp>
        <p:nvSpPr>
          <p:cNvPr id="8" name="Insight text 2"/>
          <p:cNvSpPr txBox="1"/>
          <p:nvPr/>
        </p:nvSpPr>
        <p:spPr>
          <a:xfrm>
            <a:off x="452628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5,400 patients needed no referral. General Practice (1,840) and Orthopedics (995) lead, then Physiotherapy (276) and Cardiology (248).</a:t>
            </a:r>
            <a:endParaRPr lang="en-US" sz="1400" dirty="0"/>
          </a:p>
        </p:txBody>
      </p:sp>
      <p:sp>
        <p:nvSpPr>
          <p:cNvPr id="9" name="Insight card 3"/>
          <p:cNvSpPr/>
          <p:nvPr/>
        </p:nvSpPr>
        <p:spPr>
          <a:xfrm>
            <a:off x="8046720" y="132588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nsight title 3"/>
          <p:cNvSpPr txBox="1"/>
          <p:nvPr/>
        </p:nvSpPr>
        <p:spPr>
          <a:xfrm>
            <a:off x="827532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Busy periods</a:t>
            </a:r>
            <a:endParaRPr lang="en-US" sz="1900" dirty="0"/>
          </a:p>
        </p:txBody>
      </p:sp>
      <p:sp>
        <p:nvSpPr>
          <p:cNvPr id="11" name="Insight text 3"/>
          <p:cNvSpPr txBox="1"/>
          <p:nvPr/>
        </p:nvSpPr>
        <p:spPr>
          <a:xfrm>
            <a:off x="8275320" y="20116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Saturday is busiest (1,377), then Thursday (1,332). Hourly volume is steady, from 737 to 808 per time band.</a:t>
            </a:r>
            <a:endParaRPr lang="en-US" sz="1400" dirty="0"/>
          </a:p>
        </p:txBody>
      </p:sp>
      <p:sp>
        <p:nvSpPr>
          <p:cNvPr id="12" name="Insight card 4"/>
          <p:cNvSpPr/>
          <p:nvPr/>
        </p:nvSpPr>
        <p:spPr>
          <a:xfrm>
            <a:off x="548640" y="379476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nsight title 4"/>
          <p:cNvSpPr txBox="1"/>
          <p:nvPr/>
        </p:nvSpPr>
        <p:spPr>
          <a:xfrm>
            <a:off x="77724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</a:t>
            </a:r>
            <a:endParaRPr lang="en-US" sz="1900" dirty="0"/>
          </a:p>
        </p:txBody>
      </p:sp>
      <p:sp>
        <p:nvSpPr>
          <p:cNvPr id="14" name="Insight text 4"/>
          <p:cNvSpPr txBox="1"/>
          <p:nvPr/>
        </p:nvSpPr>
        <p:spPr>
          <a:xfrm>
            <a:off x="77724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Ages 30–39 are the largest group (1,200), followed by ages 20–29 (1,188). Ages 0–9 are the smallest (1,056).</a:t>
            </a:r>
            <a:endParaRPr lang="en-US" sz="1400" dirty="0"/>
          </a:p>
        </p:txBody>
      </p:sp>
      <p:sp>
        <p:nvSpPr>
          <p:cNvPr id="15" name="Insight card 5"/>
          <p:cNvSpPr/>
          <p:nvPr/>
        </p:nvSpPr>
        <p:spPr>
          <a:xfrm>
            <a:off x="4297680" y="379476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nsight title 5"/>
          <p:cNvSpPr txBox="1"/>
          <p:nvPr/>
        </p:nvSpPr>
        <p:spPr>
          <a:xfrm>
            <a:off x="452628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</a:t>
            </a:r>
            <a:endParaRPr lang="en-US" sz="1900" dirty="0"/>
          </a:p>
        </p:txBody>
      </p:sp>
      <p:sp>
        <p:nvSpPr>
          <p:cNvPr id="17" name="Insight text 5"/>
          <p:cNvSpPr txBox="1"/>
          <p:nvPr/>
        </p:nvSpPr>
        <p:spPr>
          <a:xfrm>
            <a:off x="452628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White 2,571, African American 1,951, multiracial 1,557 and Asian 1,060. About 1,030 patients declined to identify.</a:t>
            </a:r>
            <a:endParaRPr lang="en-US" sz="1400" dirty="0"/>
          </a:p>
        </p:txBody>
      </p:sp>
      <p:sp>
        <p:nvSpPr>
          <p:cNvPr id="18" name="Insight card 6"/>
          <p:cNvSpPr/>
          <p:nvPr/>
        </p:nvSpPr>
        <p:spPr>
          <a:xfrm>
            <a:off x="8046720" y="3794760"/>
            <a:ext cx="35661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nsight title 6"/>
          <p:cNvSpPr txBox="1"/>
          <p:nvPr/>
        </p:nvSpPr>
        <p:spPr>
          <a:xfrm>
            <a:off x="827532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Admission</a:t>
            </a:r>
            <a:endParaRPr lang="en-US" sz="1900" dirty="0"/>
          </a:p>
        </p:txBody>
      </p:sp>
      <p:sp>
        <p:nvSpPr>
          <p:cNvPr id="20" name="Insight text 6"/>
          <p:cNvSpPr txBox="1"/>
          <p:nvPr/>
        </p:nvSpPr>
        <p:spPr>
          <a:xfrm>
            <a:off x="8275320" y="4480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Nearly half were admitted (4,612); the other 4,604 were treated and released.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A5F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R Dashboard">
  <a:themeElements>
    <a:clrScheme name="ER Dashboard">
      <a:dk1>
        <a:srgbClr val="0B2545"/>
      </a:dk1>
      <a:lt1>
        <a:srgbClr val="FFFFFF"/>
      </a:lt1>
      <a:dk2>
        <a:srgbClr val="13315C"/>
      </a:dk2>
      <a:lt2>
        <a:srgbClr val="EAF2FB"/>
      </a:lt2>
      <a:accent1>
        <a:srgbClr val="1E88E5"/>
      </a:accent1>
      <a:accent2>
        <a:srgbClr val="0E9AA7"/>
      </a:accent2>
      <a:accent3>
        <a:srgbClr val="E4572E"/>
      </a:accent3>
      <a:accent4>
        <a:srgbClr val="8DA9C4"/>
      </a:accent4>
      <a:accent5>
        <a:srgbClr val="F2B134"/>
      </a:accent5>
      <a:accent6>
        <a:srgbClr val="3E7CB1"/>
      </a:accent6>
      <a:hlink>
        <a:srgbClr val="1E88E5"/>
      </a:hlink>
      <a:folHlink>
        <a:srgbClr val="3E7CB1"/>
      </a:folHlink>
    </a:clrScheme>
    <a:fontScheme name="ER Dashbo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Emergency Room Dashboard</dc:title>
  <dc:subject>PptxGenJS Presentation</dc:subject>
  <dc:creator>PptxGenJS</dc:creator>
  <cp:lastModifiedBy>PptxGenJS</cp:lastModifiedBy>
  <cp:revision>1</cp:revision>
  <dcterms:created xsi:type="dcterms:W3CDTF">2026-10-27T06:08:11Z</dcterms:created>
  <dcterms:modified xsi:type="dcterms:W3CDTF">2026-10-27T06:08:11Z</dcterms:modified>
</cp:coreProperties>
</file>